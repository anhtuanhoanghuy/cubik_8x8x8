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</p:sldIdLst>
  <p:sldSz cy="6858000" cx="12192000"/>
  <p:notesSz cx="6858000" cy="9144000"/>
  <p:embeddedFontLst>
    <p:embeddedFont>
      <p:font typeface="Play"/>
      <p:regular r:id="rId9"/>
      <p:bold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hC+ijuNms6YnpPrltkojWLiNcK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EBE248D-1548-45C3-A49A-454C62279E5E}">
  <a:tblStyle styleId="{0EBE248D-1548-45C3-A49A-454C62279E5E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font" Target="fonts/Play-bold.fntdata"/><Relationship Id="rId9" Type="http://schemas.openxmlformats.org/officeDocument/2006/relationships/font" Target="fonts/Play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22866" l="20176" r="16769" t="27789"/>
          <a:stretch/>
        </p:blipFill>
        <p:spPr>
          <a:xfrm>
            <a:off x="4451648" y="2471654"/>
            <a:ext cx="1504060" cy="117709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8381" y="1737737"/>
            <a:ext cx="2183450" cy="218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982200" y="264714"/>
            <a:ext cx="1653610" cy="1653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46065" y="4252243"/>
            <a:ext cx="2545935" cy="25459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"/>
          <p:cNvPicPr preferRelativeResize="0"/>
          <p:nvPr/>
        </p:nvPicPr>
        <p:blipFill rotWithShape="1">
          <a:blip r:embed="rId7">
            <a:alphaModFix/>
          </a:blip>
          <a:srcRect b="14152" l="0" r="0" t="0"/>
          <a:stretch/>
        </p:blipFill>
        <p:spPr>
          <a:xfrm>
            <a:off x="7546649" y="2134199"/>
            <a:ext cx="1504060" cy="139052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9" name="Google Shape;89;p1"/>
          <p:cNvCxnSpPr/>
          <p:nvPr/>
        </p:nvCxnSpPr>
        <p:spPr>
          <a:xfrm>
            <a:off x="2589376" y="3136307"/>
            <a:ext cx="1965532" cy="0"/>
          </a:xfrm>
          <a:prstGeom prst="straightConnector1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cxnSp>
        <p:nvCxnSpPr>
          <p:cNvPr id="90" name="Google Shape;90;p1"/>
          <p:cNvCxnSpPr/>
          <p:nvPr/>
        </p:nvCxnSpPr>
        <p:spPr>
          <a:xfrm flipH="1" rot="10800000">
            <a:off x="6003777" y="3060199"/>
            <a:ext cx="1345606" cy="6318"/>
          </a:xfrm>
          <a:prstGeom prst="straightConnector1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cxnSp>
        <p:nvCxnSpPr>
          <p:cNvPr id="91" name="Google Shape;91;p1"/>
          <p:cNvCxnSpPr/>
          <p:nvPr/>
        </p:nvCxnSpPr>
        <p:spPr>
          <a:xfrm flipH="1" rot="10800000">
            <a:off x="9050709" y="1606609"/>
            <a:ext cx="931491" cy="1005466"/>
          </a:xfrm>
          <a:prstGeom prst="straightConnector1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cxnSp>
        <p:nvCxnSpPr>
          <p:cNvPr id="92" name="Google Shape;92;p1"/>
          <p:cNvCxnSpPr/>
          <p:nvPr/>
        </p:nvCxnSpPr>
        <p:spPr>
          <a:xfrm>
            <a:off x="8537249" y="3648744"/>
            <a:ext cx="1803162" cy="597182"/>
          </a:xfrm>
          <a:prstGeom prst="straightConnector1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cxnSp>
        <p:nvCxnSpPr>
          <p:cNvPr id="93" name="Google Shape;93;p1"/>
          <p:cNvCxnSpPr/>
          <p:nvPr/>
        </p:nvCxnSpPr>
        <p:spPr>
          <a:xfrm>
            <a:off x="5345751" y="3901015"/>
            <a:ext cx="4636449" cy="1957629"/>
          </a:xfrm>
          <a:prstGeom prst="straightConnector1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med" w="med" type="triangle"/>
            <a:tailEnd len="med" w="med" type="triangle"/>
          </a:ln>
        </p:spPr>
      </p:cxnSp>
      <p:sp>
        <p:nvSpPr>
          <p:cNvPr id="94" name="Google Shape;94;p1"/>
          <p:cNvSpPr txBox="1"/>
          <p:nvPr/>
        </p:nvSpPr>
        <p:spPr>
          <a:xfrm>
            <a:off x="2709539" y="2471654"/>
            <a:ext cx="175676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UART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Baudrate 11500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6676581" y="4879829"/>
            <a:ext cx="1162946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Hostpot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5728543" y="2678761"/>
            <a:ext cx="18010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cho FOTA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9279764" y="3590558"/>
            <a:ext cx="70243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</a:t>
            </a:r>
            <a:endParaRPr/>
          </a:p>
        </p:txBody>
      </p:sp>
      <p:sp>
        <p:nvSpPr>
          <p:cNvPr id="98" name="Google Shape;98;p1"/>
          <p:cNvSpPr txBox="1"/>
          <p:nvPr/>
        </p:nvSpPr>
        <p:spPr>
          <a:xfrm>
            <a:off x="8909556" y="1851360"/>
            <a:ext cx="59824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SQL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10322971" y="906853"/>
            <a:ext cx="81746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4761813" y="2160853"/>
            <a:ext cx="7825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</a:t>
            </a:r>
            <a:endParaRPr/>
          </a:p>
        </p:txBody>
      </p:sp>
      <p:sp>
        <p:nvSpPr>
          <p:cNvPr id="101" name="Google Shape;101;p1"/>
          <p:cNvSpPr txBox="1"/>
          <p:nvPr/>
        </p:nvSpPr>
        <p:spPr>
          <a:xfrm>
            <a:off x="5825709" y="3271052"/>
            <a:ext cx="174502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MQTT cho Noti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9516454" y="2109342"/>
            <a:ext cx="108234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Firebase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"/>
          <p:cNvCxnSpPr/>
          <p:nvPr/>
        </p:nvCxnSpPr>
        <p:spPr>
          <a:xfrm>
            <a:off x="10888041" y="615296"/>
            <a:ext cx="0" cy="5597496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8" name="Google Shape;108;p2"/>
          <p:cNvCxnSpPr/>
          <p:nvPr/>
        </p:nvCxnSpPr>
        <p:spPr>
          <a:xfrm>
            <a:off x="6694206" y="555475"/>
            <a:ext cx="0" cy="5657317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9" name="Google Shape;109;p2"/>
          <p:cNvCxnSpPr/>
          <p:nvPr/>
        </p:nvCxnSpPr>
        <p:spPr>
          <a:xfrm>
            <a:off x="2065233" y="555475"/>
            <a:ext cx="0" cy="5571859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0" name="Google Shape;110;p2"/>
          <p:cNvSpPr txBox="1"/>
          <p:nvPr/>
        </p:nvSpPr>
        <p:spPr>
          <a:xfrm>
            <a:off x="1689218" y="186143"/>
            <a:ext cx="92845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STM32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242800" y="186143"/>
            <a:ext cx="90281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ESP32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0464418" y="186143"/>
            <a:ext cx="86433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3" name="Google Shape;113;p2"/>
          <p:cNvCxnSpPr/>
          <p:nvPr/>
        </p:nvCxnSpPr>
        <p:spPr>
          <a:xfrm>
            <a:off x="6869207" y="655432"/>
            <a:ext cx="3893334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" name="Google Shape;114;p2"/>
          <p:cNvSpPr txBox="1"/>
          <p:nvPr/>
        </p:nvSpPr>
        <p:spPr>
          <a:xfrm>
            <a:off x="7579454" y="378433"/>
            <a:ext cx="237116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(1) Kiểm tra có FW mới không ?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5" name="Google Shape;115;p2"/>
          <p:cNvCxnSpPr/>
          <p:nvPr/>
        </p:nvCxnSpPr>
        <p:spPr>
          <a:xfrm rot="10800000">
            <a:off x="6869207" y="1070930"/>
            <a:ext cx="386947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6" name="Google Shape;116;p2"/>
          <p:cNvSpPr txBox="1"/>
          <p:nvPr/>
        </p:nvSpPr>
        <p:spPr>
          <a:xfrm>
            <a:off x="7517363" y="793931"/>
            <a:ext cx="280467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(2) Trả về thông tin Version mới nhất ?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" name="Google Shape;117;p2"/>
          <p:cNvCxnSpPr/>
          <p:nvPr/>
        </p:nvCxnSpPr>
        <p:spPr>
          <a:xfrm>
            <a:off x="6869207" y="1580437"/>
            <a:ext cx="386947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" name="Google Shape;118;p2"/>
          <p:cNvSpPr txBox="1"/>
          <p:nvPr/>
        </p:nvSpPr>
        <p:spPr>
          <a:xfrm>
            <a:off x="6958290" y="1277802"/>
            <a:ext cx="361349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(3) Gửi yêu cầu download FW nếu được cho phép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7636705" y="1812038"/>
            <a:ext cx="235833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(4) Gửi gói FW mới nhất + CRC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0" name="Google Shape;120;p2"/>
          <p:cNvCxnSpPr/>
          <p:nvPr/>
        </p:nvCxnSpPr>
        <p:spPr>
          <a:xfrm flipH="1">
            <a:off x="7463996" y="2089037"/>
            <a:ext cx="3157161" cy="7001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1" name="Google Shape;121;p2"/>
          <p:cNvCxnSpPr/>
          <p:nvPr/>
        </p:nvCxnSpPr>
        <p:spPr>
          <a:xfrm rot="10800000">
            <a:off x="2230452" y="2623376"/>
            <a:ext cx="4289989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2" name="Google Shape;122;p2"/>
          <p:cNvSpPr txBox="1"/>
          <p:nvPr/>
        </p:nvSpPr>
        <p:spPr>
          <a:xfrm>
            <a:off x="2840376" y="2346377"/>
            <a:ext cx="3299301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(5) Gửi thông tin đã tải bản cập nhật mới nhất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" name="Google Shape;123;p2"/>
          <p:cNvCxnSpPr/>
          <p:nvPr/>
        </p:nvCxnSpPr>
        <p:spPr>
          <a:xfrm>
            <a:off x="2620205" y="2992708"/>
            <a:ext cx="389900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4" name="Google Shape;124;p2"/>
          <p:cNvSpPr txBox="1"/>
          <p:nvPr/>
        </p:nvSpPr>
        <p:spPr>
          <a:xfrm>
            <a:off x="3373709" y="2691659"/>
            <a:ext cx="22759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(6) Gửi chế độ FOTA sẵn sàng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900136" y="2753780"/>
            <a:ext cx="1608734" cy="429755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Vào Bootloader 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Xóa Bank B</a:t>
            </a:r>
            <a:endParaRPr/>
          </a:p>
        </p:txBody>
      </p:sp>
      <p:sp>
        <p:nvSpPr>
          <p:cNvPr id="126" name="Google Shape;126;p2"/>
          <p:cNvSpPr/>
          <p:nvPr/>
        </p:nvSpPr>
        <p:spPr>
          <a:xfrm>
            <a:off x="5780581" y="1894146"/>
            <a:ext cx="1608734" cy="436971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Download FW + check CRC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" name="Google Shape;127;p2"/>
          <p:cNvCxnSpPr/>
          <p:nvPr/>
        </p:nvCxnSpPr>
        <p:spPr>
          <a:xfrm rot="10800000">
            <a:off x="2576946" y="3530038"/>
            <a:ext cx="386947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" name="Google Shape;128;p2"/>
          <p:cNvSpPr txBox="1"/>
          <p:nvPr/>
        </p:nvSpPr>
        <p:spPr>
          <a:xfrm>
            <a:off x="3738470" y="3253039"/>
            <a:ext cx="189827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(7) Gửi fram Data + CRC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9" name="Google Shape;129;p2"/>
          <p:cNvCxnSpPr/>
          <p:nvPr/>
        </p:nvCxnSpPr>
        <p:spPr>
          <a:xfrm>
            <a:off x="2544128" y="4138608"/>
            <a:ext cx="386947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" name="Google Shape;130;p2"/>
          <p:cNvSpPr txBox="1"/>
          <p:nvPr/>
        </p:nvSpPr>
        <p:spPr>
          <a:xfrm>
            <a:off x="3870901" y="3837558"/>
            <a:ext cx="153554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(8) Gửi ACK/ NACK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900136" y="3340171"/>
            <a:ext cx="1608734" cy="429755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Check CRC</a:t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900136" y="3976057"/>
            <a:ext cx="1608734" cy="429755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Ghi vào Bank B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Hoặc gửi NACK</a:t>
            </a:r>
            <a:endParaRPr/>
          </a:p>
        </p:txBody>
      </p:sp>
      <p:sp>
        <p:nvSpPr>
          <p:cNvPr id="133" name="Google Shape;133;p2"/>
          <p:cNvSpPr/>
          <p:nvPr/>
        </p:nvSpPr>
        <p:spPr>
          <a:xfrm>
            <a:off x="173453" y="3253039"/>
            <a:ext cx="6411495" cy="1273842"/>
          </a:xfrm>
          <a:prstGeom prst="rect">
            <a:avLst/>
          </a:prstGeom>
          <a:noFill/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193672" y="3699058"/>
            <a:ext cx="61266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LOOP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900136" y="4697300"/>
            <a:ext cx="1608734" cy="429755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Kiểm tra FW CRC</a:t>
            </a:r>
            <a:endParaRPr/>
          </a:p>
        </p:txBody>
      </p:sp>
      <p:cxnSp>
        <p:nvCxnSpPr>
          <p:cNvPr id="136" name="Google Shape;136;p2"/>
          <p:cNvCxnSpPr/>
          <p:nvPr/>
        </p:nvCxnSpPr>
        <p:spPr>
          <a:xfrm>
            <a:off x="2585942" y="4948194"/>
            <a:ext cx="386947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7" name="Google Shape;137;p2"/>
          <p:cNvSpPr txBox="1"/>
          <p:nvPr/>
        </p:nvSpPr>
        <p:spPr>
          <a:xfrm>
            <a:off x="3438138" y="4665380"/>
            <a:ext cx="245887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(9) Gửi Update OK / Update FAIL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8" name="Google Shape;138;p2"/>
          <p:cNvCxnSpPr/>
          <p:nvPr/>
        </p:nvCxnSpPr>
        <p:spPr>
          <a:xfrm>
            <a:off x="6790014" y="4959153"/>
            <a:ext cx="3869471" cy="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9" name="Google Shape;139;p2"/>
          <p:cNvSpPr txBox="1"/>
          <p:nvPr/>
        </p:nvSpPr>
        <p:spPr>
          <a:xfrm>
            <a:off x="8392153" y="4647347"/>
            <a:ext cx="105509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(10) Gửi Log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/>
          <p:nvPr/>
        </p:nvSpPr>
        <p:spPr>
          <a:xfrm>
            <a:off x="900136" y="5448803"/>
            <a:ext cx="1608734" cy="429755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Vào Application boot</a:t>
            </a:r>
            <a:endParaRPr/>
          </a:p>
        </p:txBody>
      </p:sp>
      <p:cxnSp>
        <p:nvCxnSpPr>
          <p:cNvPr id="141" name="Google Shape;141;p2"/>
          <p:cNvCxnSpPr>
            <a:endCxn id="135" idx="1"/>
          </p:cNvCxnSpPr>
          <p:nvPr/>
        </p:nvCxnSpPr>
        <p:spPr>
          <a:xfrm>
            <a:off x="259636" y="4564178"/>
            <a:ext cx="640500" cy="348000"/>
          </a:xfrm>
          <a:prstGeom prst="bentConnector3">
            <a:avLst>
              <a:gd fmla="val 627" name="adj1"/>
            </a:avLst>
          </a:prstGeom>
          <a:noFill/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2" name="Google Shape;142;p2"/>
          <p:cNvSpPr txBox="1"/>
          <p:nvPr/>
        </p:nvSpPr>
        <p:spPr>
          <a:xfrm>
            <a:off x="7268" y="4896222"/>
            <a:ext cx="85492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success / timeout</a:t>
            </a:r>
            <a:endParaRPr sz="12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3"/>
          <p:cNvGrpSpPr/>
          <p:nvPr/>
        </p:nvGrpSpPr>
        <p:grpSpPr>
          <a:xfrm>
            <a:off x="9879370" y="179292"/>
            <a:ext cx="2136449" cy="3179036"/>
            <a:chOff x="6166351" y="388664"/>
            <a:chExt cx="2136449" cy="3179036"/>
          </a:xfrm>
        </p:grpSpPr>
        <p:sp>
          <p:nvSpPr>
            <p:cNvPr id="148" name="Google Shape;148;p3"/>
            <p:cNvSpPr/>
            <p:nvPr/>
          </p:nvSpPr>
          <p:spPr>
            <a:xfrm>
              <a:off x="6166351" y="388664"/>
              <a:ext cx="2136449" cy="3179036"/>
            </a:xfrm>
            <a:prstGeom prst="rect">
              <a:avLst/>
            </a:prstGeom>
            <a:solidFill>
              <a:srgbClr val="1F5C99"/>
            </a:solidFill>
            <a:ln cap="flat" cmpd="sng" w="19050">
              <a:solidFill>
                <a:srgbClr val="082836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6166351" y="3148956"/>
              <a:ext cx="2136449" cy="418744"/>
            </a:xfrm>
            <a:prstGeom prst="rect">
              <a:avLst/>
            </a:prstGeom>
            <a:solidFill>
              <a:schemeClr val="accent6"/>
            </a:solidFill>
            <a:ln cap="flat" cmpd="sng" w="19050">
              <a:solidFill>
                <a:srgbClr val="204613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Bootloader</a:t>
              </a: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6166351" y="2328559"/>
              <a:ext cx="2136449" cy="820397"/>
            </a:xfrm>
            <a:prstGeom prst="rect">
              <a:avLst/>
            </a:prstGeom>
            <a:solidFill>
              <a:schemeClr val="accent1"/>
            </a:solidFill>
            <a:ln cap="flat" cmpd="sng" w="19050">
              <a:solidFill>
                <a:srgbClr val="082836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Main Application</a:t>
              </a: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6166351" y="1508162"/>
              <a:ext cx="2136449" cy="820397"/>
            </a:xfrm>
            <a:prstGeom prst="rect">
              <a:avLst/>
            </a:prstGeom>
            <a:solidFill>
              <a:schemeClr val="accent2"/>
            </a:solidFill>
            <a:ln cap="flat" cmpd="sng" w="19050">
              <a:solidFill>
                <a:srgbClr val="622F15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FOTA firmware</a:t>
              </a: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6166351" y="687765"/>
              <a:ext cx="2136449" cy="820397"/>
            </a:xfrm>
            <a:prstGeom prst="rect">
              <a:avLst/>
            </a:prstGeom>
            <a:solidFill>
              <a:srgbClr val="4892DC"/>
            </a:solidFill>
            <a:ln cap="flat" cmpd="sng" w="19050">
              <a:solidFill>
                <a:srgbClr val="204613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Recovery</a:t>
              </a: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6166351" y="388664"/>
              <a:ext cx="2136449" cy="290555"/>
            </a:xfrm>
            <a:prstGeom prst="rect">
              <a:avLst/>
            </a:prstGeom>
            <a:solidFill>
              <a:srgbClr val="D86CCC"/>
            </a:solidFill>
            <a:ln cap="flat" cmpd="sng" w="19050">
              <a:solidFill>
                <a:srgbClr val="204613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Flag</a:t>
              </a:r>
              <a:endParaRPr/>
            </a:p>
          </p:txBody>
        </p:sp>
      </p:grpSp>
      <p:graphicFrame>
        <p:nvGraphicFramePr>
          <p:cNvPr id="154" name="Google Shape;154;p3"/>
          <p:cNvGraphicFramePr/>
          <p:nvPr/>
        </p:nvGraphicFramePr>
        <p:xfrm>
          <a:off x="822037" y="1274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{0EBE248D-1548-45C3-A49A-454C62279E5E}</a:tableStyleId>
              </a:tblPr>
              <a:tblGrid>
                <a:gridCol w="4128450"/>
                <a:gridCol w="1394900"/>
              </a:tblGrid>
              <a:tr h="2466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Define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Value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4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FOTA_INIT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0X00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4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FOTA_FOTA_WRITE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0X01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4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FOTA_RECOVERY_WRITE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0X02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4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FOTA_APPLICATION_ERASE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0X03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4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FOTA_APPLICATION_WRITE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0X04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4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FOTA_APPLICATION_ROLLBACK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0X05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26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/>
                        <a:t>FOTA_SUCCESS</a:t>
                      </a:r>
                      <a:endParaRPr sz="16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/>
                        <a:t>0X06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26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/>
                        <a:t>FOTA_FAIL</a:t>
                      </a:r>
                      <a:endParaRPr sz="16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/>
                        <a:t>0X07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pic>
        <p:nvPicPr>
          <p:cNvPr id="155" name="Google Shape;155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4650" y="3614050"/>
            <a:ext cx="7638908" cy="2985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2025-12-10T06:43:16Z</dcterms:created>
  <dc:creator>Hoang Huy Anh Tuan/LGEDV VHA TEAM</dc:creator>
</cp:coreProperties>
</file>