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23353-DD57-9EEE-A56E-CC10C44640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B56729-3F3D-003C-06D4-53503234FD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416ADB-53EF-23A0-85A1-74097FD0C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BE180-9EE0-4311-99A1-74F11EFE5E1C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F593B0-EB4E-2C11-95AA-2A35B2F55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9FFB35-5362-FDD4-C60C-A10C4084F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4A4C9-6524-43D6-BF1B-BF0D67D6AC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917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3B959-12D9-38DB-9CCA-34FE56BF5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A8675-7E95-9414-AEE9-B24B7BE35A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CAFD70-AFCA-2D0B-7C7B-57B9768A7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BE180-9EE0-4311-99A1-74F11EFE5E1C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390894-BA5A-382C-C433-DF72026D4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113D6D-596A-D0FA-0247-5C628A3B9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4A4C9-6524-43D6-BF1B-BF0D67D6AC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432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0BC87-CEA0-9DE8-79B5-0052F764B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1406A8-B55E-3AF5-05DA-87C4043E07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288D08-5CA8-A7C7-6A8A-54CD69304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BE180-9EE0-4311-99A1-74F11EFE5E1C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F346D0-BA05-8C29-B4A4-7F473A76D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AD0720-0AC6-FCF7-A986-B38F964AD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4A4C9-6524-43D6-BF1B-BF0D67D6AC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525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E59D4-A74B-CCB6-7A8A-5CC7D1927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BBADDB-4732-4B86-2617-B5F5F6525F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F3AA41-4D25-149E-0E7E-ED90B5983A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EA1328-71D1-D4A7-D711-B16F762E7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BE180-9EE0-4311-99A1-74F11EFE5E1C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D98258-AC5C-FBFC-A369-7ED67F739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18A68B-8563-7F18-071B-FCC104B36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4A4C9-6524-43D6-BF1B-BF0D67D6AC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209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8932D-0A29-690A-10BD-1C4D254AF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6B6C9E-57B2-251E-4F16-AB42821746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6B5FBC-F78F-EC6E-2DA9-A66B938121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7E72C7-7230-C102-8729-7F835B50DE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78ED61-79C8-5003-E7E7-8C46875A30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C8F363-C905-581B-48C9-E8FE7B6D6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BE180-9EE0-4311-99A1-74F11EFE5E1C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DD3554-0653-9243-8578-85338DEB3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1CE01F-28EE-306D-6D41-AE870397A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4A4C9-6524-43D6-BF1B-BF0D67D6AC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224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4B57A-62D9-4C94-597C-3553F54AC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5951A1-0261-96DA-FE04-656CD6C89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BE180-9EE0-4311-99A1-74F11EFE5E1C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C124F0-E7C8-F4E2-B279-C0B404AE7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05E520-2970-474E-7B3B-F9093B1EC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4A4C9-6524-43D6-BF1B-BF0D67D6AC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678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19E3AA-A2D7-0CAF-406B-784A7CA96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BE180-9EE0-4311-99A1-74F11EFE5E1C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9FFC00-E4B0-2987-9754-344D12E37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3EE7AD-E94A-B5F8-85C5-2F6FA363D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4A4C9-6524-43D6-BF1B-BF0D67D6AC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497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B4178-AFA5-BB64-1B1F-2D1700F19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706242-37FB-58BC-3C7E-09F295A4BF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FE696D-F7E8-7A92-CB30-2550FEC005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5D8733-195B-FEDC-A039-ACF767428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BE180-9EE0-4311-99A1-74F11EFE5E1C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248B4C-2079-F956-318D-963ACF319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D7742F-4396-8E06-9EE2-3A4C899B0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4A4C9-6524-43D6-BF1B-BF0D67D6AC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059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298B3-C6BC-EE62-66D7-58C7AE940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F13C59-B865-AE66-AD97-6760D3DB76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EF992F-9272-06C9-14B5-645CE596FF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978A2C-DAD4-67D2-0E04-A7843A50E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BE180-9EE0-4311-99A1-74F11EFE5E1C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13472C-4891-4564-F984-0532E726B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887C86-202C-DE0C-7986-AAA7E5EAA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4A4C9-6524-43D6-BF1B-BF0D67D6AC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1977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1A0DB-96F5-7FA4-6B73-51151B0CE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548D82-2CD7-D7B3-6DE3-A004FC946F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82DDD7-F1DA-89CB-5D1E-C17D90213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BE180-9EE0-4311-99A1-74F11EFE5E1C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EA4D2A-B43B-55D2-73AD-58FF6A809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6A4CD-A545-3E09-BD5B-53673CFB9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4A4C9-6524-43D6-BF1B-BF0D67D6AC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886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F5DA51-2BCE-3314-44EF-994FFEAA07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A7540D-F06A-2E2C-A57B-09F2C6125F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D9C573-A935-5FAE-ED15-C1547FFC0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BE180-9EE0-4311-99A1-74F11EFE5E1C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591280-C672-963B-003B-5F4C591CB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A298D-A337-82D2-2556-08B0A4794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4A4C9-6524-43D6-BF1B-BF0D67D6AC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183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F1187A-C123-58E7-A1B9-3B708B098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16387C-6686-623E-61DC-5E2130F040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83923E-6DA9-328E-7491-AE168D4F51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ABE180-9EE0-4311-99A1-74F11EFE5E1C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387AE2-9343-AAFA-EE58-7013743FA1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2197AD-B634-8BAA-9162-81E39FFB44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44A4C9-6524-43D6-BF1B-BF0D67D6AC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01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7E98A4C-A819-6E19-CA2C-030F204A2C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176" t="27789" r="16770" b="22866"/>
          <a:stretch/>
        </p:blipFill>
        <p:spPr>
          <a:xfrm>
            <a:off x="4451648" y="2471654"/>
            <a:ext cx="1504060" cy="11770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CF479B0-003A-F7BD-072B-B6334C77F7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381" y="1737737"/>
            <a:ext cx="2183450" cy="21834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F23BDCE-7745-D34C-B480-8C4992752E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2200" y="264714"/>
            <a:ext cx="1653610" cy="16536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945A26A-3961-376E-6D1A-67DDF3C05B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6065" y="4252243"/>
            <a:ext cx="2545935" cy="254593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F63458D-8154-4859-86E4-E54D74EDEF5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14152"/>
          <a:stretch/>
        </p:blipFill>
        <p:spPr>
          <a:xfrm>
            <a:off x="7546649" y="2134199"/>
            <a:ext cx="1504060" cy="1390526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C71BD28-19AB-E9AE-C002-F32CB7A84C35}"/>
              </a:ext>
            </a:extLst>
          </p:cNvPr>
          <p:cNvCxnSpPr/>
          <p:nvPr/>
        </p:nvCxnSpPr>
        <p:spPr>
          <a:xfrm>
            <a:off x="2589376" y="3136307"/>
            <a:ext cx="1965532" cy="0"/>
          </a:xfrm>
          <a:prstGeom prst="straightConnector1">
            <a:avLst/>
          </a:prstGeom>
          <a:ln w="5715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8550366-84D0-01EF-A27E-CC4C765D534C}"/>
              </a:ext>
            </a:extLst>
          </p:cNvPr>
          <p:cNvCxnSpPr>
            <a:cxnSpLocks/>
          </p:cNvCxnSpPr>
          <p:nvPr/>
        </p:nvCxnSpPr>
        <p:spPr>
          <a:xfrm flipV="1">
            <a:off x="6003777" y="3060199"/>
            <a:ext cx="1345606" cy="6318"/>
          </a:xfrm>
          <a:prstGeom prst="straightConnector1">
            <a:avLst/>
          </a:prstGeom>
          <a:ln w="5715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4280774-AA8E-C116-22D1-D1C48BD0C3D9}"/>
              </a:ext>
            </a:extLst>
          </p:cNvPr>
          <p:cNvCxnSpPr>
            <a:cxnSpLocks/>
          </p:cNvCxnSpPr>
          <p:nvPr/>
        </p:nvCxnSpPr>
        <p:spPr>
          <a:xfrm flipV="1">
            <a:off x="9050709" y="1606609"/>
            <a:ext cx="931491" cy="1005466"/>
          </a:xfrm>
          <a:prstGeom prst="straightConnector1">
            <a:avLst/>
          </a:prstGeom>
          <a:ln w="5715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DC789AC-480B-F9BE-6556-7A1507280808}"/>
              </a:ext>
            </a:extLst>
          </p:cNvPr>
          <p:cNvCxnSpPr>
            <a:cxnSpLocks/>
          </p:cNvCxnSpPr>
          <p:nvPr/>
        </p:nvCxnSpPr>
        <p:spPr>
          <a:xfrm>
            <a:off x="8537249" y="3648744"/>
            <a:ext cx="1803162" cy="597182"/>
          </a:xfrm>
          <a:prstGeom prst="straightConnector1">
            <a:avLst/>
          </a:prstGeom>
          <a:ln w="5715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47306FE-4B54-64C4-5399-83EF376E3B18}"/>
              </a:ext>
            </a:extLst>
          </p:cNvPr>
          <p:cNvCxnSpPr>
            <a:cxnSpLocks/>
          </p:cNvCxnSpPr>
          <p:nvPr/>
        </p:nvCxnSpPr>
        <p:spPr>
          <a:xfrm>
            <a:off x="5345751" y="3901015"/>
            <a:ext cx="4636449" cy="1957629"/>
          </a:xfrm>
          <a:prstGeom prst="straightConnector1">
            <a:avLst/>
          </a:prstGeom>
          <a:ln w="5715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02ACEA45-5AF4-67BF-DE69-5CE3AE13729D}"/>
              </a:ext>
            </a:extLst>
          </p:cNvPr>
          <p:cNvSpPr txBox="1"/>
          <p:nvPr/>
        </p:nvSpPr>
        <p:spPr>
          <a:xfrm>
            <a:off x="2709539" y="2471654"/>
            <a:ext cx="17567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UART</a:t>
            </a:r>
          </a:p>
          <a:p>
            <a:pPr algn="ctr"/>
            <a:r>
              <a:rPr lang="en-US" dirty="0" err="1"/>
              <a:t>Baudrate</a:t>
            </a:r>
            <a:r>
              <a:rPr lang="en-US" dirty="0"/>
              <a:t> 11500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91BF3B8-5CAB-EDDE-B62B-E4E22488DE07}"/>
              </a:ext>
            </a:extLst>
          </p:cNvPr>
          <p:cNvSpPr txBox="1"/>
          <p:nvPr/>
        </p:nvSpPr>
        <p:spPr>
          <a:xfrm>
            <a:off x="6676581" y="4879829"/>
            <a:ext cx="11629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Bluetooth</a:t>
            </a:r>
          </a:p>
          <a:p>
            <a:pPr algn="ctr"/>
            <a:r>
              <a:rPr lang="en-US" dirty="0" err="1"/>
              <a:t>Hostpot</a:t>
            </a:r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8AA908F-27A5-F172-C39C-9C93C327864E}"/>
              </a:ext>
            </a:extLst>
          </p:cNvPr>
          <p:cNvSpPr txBox="1"/>
          <p:nvPr/>
        </p:nvSpPr>
        <p:spPr>
          <a:xfrm>
            <a:off x="5728543" y="2678761"/>
            <a:ext cx="18010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HTTP</a:t>
            </a:r>
            <a:r>
              <a:rPr lang="vi-VN" dirty="0"/>
              <a:t> cho FOTA</a:t>
            </a:r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CC15A59-F47C-C8DB-154C-AAB3A64A8E17}"/>
              </a:ext>
            </a:extLst>
          </p:cNvPr>
          <p:cNvSpPr txBox="1"/>
          <p:nvPr/>
        </p:nvSpPr>
        <p:spPr>
          <a:xfrm>
            <a:off x="9279764" y="3590558"/>
            <a:ext cx="702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HTTP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6F944CC-CBEA-7455-C310-1A8142A9B446}"/>
              </a:ext>
            </a:extLst>
          </p:cNvPr>
          <p:cNvSpPr txBox="1"/>
          <p:nvPr/>
        </p:nvSpPr>
        <p:spPr>
          <a:xfrm>
            <a:off x="8909556" y="1851360"/>
            <a:ext cx="5982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SQL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B70E977-9A12-0BD1-6B0E-1CACFBD3115F}"/>
              </a:ext>
            </a:extLst>
          </p:cNvPr>
          <p:cNvSpPr txBox="1"/>
          <p:nvPr/>
        </p:nvSpPr>
        <p:spPr>
          <a:xfrm>
            <a:off x="10322971" y="906853"/>
            <a:ext cx="817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Server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A808A8E-3FD4-B1E8-1908-15D93DF75C5E}"/>
              </a:ext>
            </a:extLst>
          </p:cNvPr>
          <p:cNvSpPr txBox="1"/>
          <p:nvPr/>
        </p:nvSpPr>
        <p:spPr>
          <a:xfrm>
            <a:off x="4761813" y="2160853"/>
            <a:ext cx="782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Client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11D5915-7E19-9A5C-5592-6896C2CA9DC0}"/>
              </a:ext>
            </a:extLst>
          </p:cNvPr>
          <p:cNvSpPr txBox="1"/>
          <p:nvPr/>
        </p:nvSpPr>
        <p:spPr>
          <a:xfrm>
            <a:off x="5825709" y="3271052"/>
            <a:ext cx="1745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dirty="0"/>
              <a:t>MQTT cho Noti</a:t>
            </a:r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FF3AEA2-4BA2-E806-1B08-4F25AD50034D}"/>
              </a:ext>
            </a:extLst>
          </p:cNvPr>
          <p:cNvSpPr txBox="1"/>
          <p:nvPr/>
        </p:nvSpPr>
        <p:spPr>
          <a:xfrm>
            <a:off x="9516454" y="2109342"/>
            <a:ext cx="10823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dirty="0"/>
              <a:t>Firebase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017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F1A25C0-6F52-CFA9-355C-433672D7D9D4}"/>
              </a:ext>
            </a:extLst>
          </p:cNvPr>
          <p:cNvCxnSpPr>
            <a:cxnSpLocks/>
          </p:cNvCxnSpPr>
          <p:nvPr/>
        </p:nvCxnSpPr>
        <p:spPr>
          <a:xfrm>
            <a:off x="10888041" y="615296"/>
            <a:ext cx="0" cy="559749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EA57655-DE81-9243-4FBD-1ABD2DAECF9C}"/>
              </a:ext>
            </a:extLst>
          </p:cNvPr>
          <p:cNvCxnSpPr>
            <a:cxnSpLocks/>
          </p:cNvCxnSpPr>
          <p:nvPr/>
        </p:nvCxnSpPr>
        <p:spPr>
          <a:xfrm>
            <a:off x="6694206" y="555475"/>
            <a:ext cx="0" cy="56573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C0ADF92-1F70-BCAF-78B8-F0907A7A7E2D}"/>
              </a:ext>
            </a:extLst>
          </p:cNvPr>
          <p:cNvCxnSpPr>
            <a:cxnSpLocks/>
          </p:cNvCxnSpPr>
          <p:nvPr/>
        </p:nvCxnSpPr>
        <p:spPr>
          <a:xfrm>
            <a:off x="2065233" y="555475"/>
            <a:ext cx="0" cy="557185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B9B9416-BC4B-C344-B054-D10420DCC50D}"/>
              </a:ext>
            </a:extLst>
          </p:cNvPr>
          <p:cNvSpPr txBox="1"/>
          <p:nvPr/>
        </p:nvSpPr>
        <p:spPr>
          <a:xfrm>
            <a:off x="1689218" y="186143"/>
            <a:ext cx="928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dirty="0"/>
              <a:t>STM32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A95E37-1B3E-81B5-C028-83F64537CC6F}"/>
              </a:ext>
            </a:extLst>
          </p:cNvPr>
          <p:cNvSpPr txBox="1"/>
          <p:nvPr/>
        </p:nvSpPr>
        <p:spPr>
          <a:xfrm>
            <a:off x="6242800" y="186143"/>
            <a:ext cx="902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dirty="0"/>
              <a:t>ESP32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542244-8539-8620-C5C2-EA001BB169CF}"/>
              </a:ext>
            </a:extLst>
          </p:cNvPr>
          <p:cNvSpPr txBox="1"/>
          <p:nvPr/>
        </p:nvSpPr>
        <p:spPr>
          <a:xfrm>
            <a:off x="10464418" y="186143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dirty="0"/>
              <a:t>Server</a:t>
            </a:r>
            <a:endParaRPr lang="en-US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35D9BE3-FADC-DF2A-2DF1-0455F6E95D46}"/>
              </a:ext>
            </a:extLst>
          </p:cNvPr>
          <p:cNvCxnSpPr>
            <a:cxnSpLocks/>
          </p:cNvCxnSpPr>
          <p:nvPr/>
        </p:nvCxnSpPr>
        <p:spPr>
          <a:xfrm>
            <a:off x="6869207" y="655432"/>
            <a:ext cx="389333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C5080E4-CC45-C52F-4033-45F649347212}"/>
              </a:ext>
            </a:extLst>
          </p:cNvPr>
          <p:cNvSpPr txBox="1"/>
          <p:nvPr/>
        </p:nvSpPr>
        <p:spPr>
          <a:xfrm>
            <a:off x="7579454" y="378433"/>
            <a:ext cx="23711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dirty="0">
                <a:solidFill>
                  <a:srgbClr val="FF0000"/>
                </a:solidFill>
              </a:rPr>
              <a:t>(1) Kiểm tra có FW mới không ?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F4F5984-DD0D-1431-4A1F-40FBBEA32130}"/>
              </a:ext>
            </a:extLst>
          </p:cNvPr>
          <p:cNvCxnSpPr>
            <a:cxnSpLocks/>
          </p:cNvCxnSpPr>
          <p:nvPr/>
        </p:nvCxnSpPr>
        <p:spPr>
          <a:xfrm flipH="1">
            <a:off x="6869207" y="1070930"/>
            <a:ext cx="386947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074F9F4-9DAE-8D43-A533-24122EAF822F}"/>
              </a:ext>
            </a:extLst>
          </p:cNvPr>
          <p:cNvSpPr txBox="1"/>
          <p:nvPr/>
        </p:nvSpPr>
        <p:spPr>
          <a:xfrm>
            <a:off x="7517363" y="793931"/>
            <a:ext cx="28046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dirty="0">
                <a:solidFill>
                  <a:srgbClr val="FF0000"/>
                </a:solidFill>
              </a:rPr>
              <a:t>(2) Trả về thông tin Version mới nhất ?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10A138F-9C51-F055-70C2-BE021EFFFC1B}"/>
              </a:ext>
            </a:extLst>
          </p:cNvPr>
          <p:cNvCxnSpPr>
            <a:cxnSpLocks/>
          </p:cNvCxnSpPr>
          <p:nvPr/>
        </p:nvCxnSpPr>
        <p:spPr>
          <a:xfrm>
            <a:off x="6869207" y="1580437"/>
            <a:ext cx="386947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115C4AD6-AF77-F51C-9D04-843FE9ACD18B}"/>
              </a:ext>
            </a:extLst>
          </p:cNvPr>
          <p:cNvSpPr txBox="1"/>
          <p:nvPr/>
        </p:nvSpPr>
        <p:spPr>
          <a:xfrm>
            <a:off x="6958290" y="1277802"/>
            <a:ext cx="36134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dirty="0">
                <a:solidFill>
                  <a:srgbClr val="FF0000"/>
                </a:solidFill>
              </a:rPr>
              <a:t>(3) Gửi yêu cầu download FW nếu được cho phép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2A1B443-185D-99A4-7768-67EA09F166B6}"/>
              </a:ext>
            </a:extLst>
          </p:cNvPr>
          <p:cNvSpPr txBox="1"/>
          <p:nvPr/>
        </p:nvSpPr>
        <p:spPr>
          <a:xfrm>
            <a:off x="7636705" y="1812038"/>
            <a:ext cx="23583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dirty="0">
                <a:solidFill>
                  <a:srgbClr val="FF0000"/>
                </a:solidFill>
              </a:rPr>
              <a:t>(4) Gửi gói FW mới nhất + CRC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2C477C9-561F-8D12-AA30-302CE5B9F1E3}"/>
              </a:ext>
            </a:extLst>
          </p:cNvPr>
          <p:cNvCxnSpPr>
            <a:cxnSpLocks/>
          </p:cNvCxnSpPr>
          <p:nvPr/>
        </p:nvCxnSpPr>
        <p:spPr>
          <a:xfrm flipH="1">
            <a:off x="7463996" y="2089037"/>
            <a:ext cx="3157161" cy="700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6AA6F49-A41D-E28F-3007-6718649ECECF}"/>
              </a:ext>
            </a:extLst>
          </p:cNvPr>
          <p:cNvCxnSpPr>
            <a:cxnSpLocks/>
          </p:cNvCxnSpPr>
          <p:nvPr/>
        </p:nvCxnSpPr>
        <p:spPr>
          <a:xfrm flipH="1">
            <a:off x="2230452" y="2623376"/>
            <a:ext cx="4289989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BB4A3336-9E6E-66B2-A4E3-605D5EC6AFDB}"/>
              </a:ext>
            </a:extLst>
          </p:cNvPr>
          <p:cNvSpPr txBox="1"/>
          <p:nvPr/>
        </p:nvSpPr>
        <p:spPr>
          <a:xfrm>
            <a:off x="2840376" y="2346377"/>
            <a:ext cx="32993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dirty="0">
                <a:solidFill>
                  <a:srgbClr val="FF0000"/>
                </a:solidFill>
              </a:rPr>
              <a:t>(5) Gửi thông tin đã tải bản cập nhật mới nhất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860EF1E-4A84-7667-E0AC-143B7EBB0CA1}"/>
              </a:ext>
            </a:extLst>
          </p:cNvPr>
          <p:cNvCxnSpPr>
            <a:cxnSpLocks/>
          </p:cNvCxnSpPr>
          <p:nvPr/>
        </p:nvCxnSpPr>
        <p:spPr>
          <a:xfrm>
            <a:off x="2620205" y="2992708"/>
            <a:ext cx="389900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DD862ECE-666B-FCEB-1F70-1B33A4ACA22A}"/>
              </a:ext>
            </a:extLst>
          </p:cNvPr>
          <p:cNvSpPr txBox="1"/>
          <p:nvPr/>
        </p:nvSpPr>
        <p:spPr>
          <a:xfrm>
            <a:off x="3373709" y="2691659"/>
            <a:ext cx="22759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dirty="0">
                <a:solidFill>
                  <a:srgbClr val="FF0000"/>
                </a:solidFill>
              </a:rPr>
              <a:t>(6) Gửi chế độ FOTA sẵn sàng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848ACE3-CE6A-D326-2F18-F4B0F4B2707B}"/>
              </a:ext>
            </a:extLst>
          </p:cNvPr>
          <p:cNvSpPr/>
          <p:nvPr/>
        </p:nvSpPr>
        <p:spPr>
          <a:xfrm>
            <a:off x="900136" y="2753780"/>
            <a:ext cx="1608734" cy="4297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dirty="0"/>
              <a:t>Vào Bootloader +</a:t>
            </a:r>
          </a:p>
          <a:p>
            <a:pPr algn="ctr"/>
            <a:r>
              <a:rPr lang="vi-VN" sz="1200" dirty="0"/>
              <a:t>Xóa Bank B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122FD67-A0C4-54AD-B754-4FA1A0F0F48F}"/>
              </a:ext>
            </a:extLst>
          </p:cNvPr>
          <p:cNvSpPr/>
          <p:nvPr/>
        </p:nvSpPr>
        <p:spPr>
          <a:xfrm>
            <a:off x="5780581" y="1894146"/>
            <a:ext cx="1608734" cy="4369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dirty="0"/>
              <a:t>Download FW + check CRC</a:t>
            </a:r>
            <a:endParaRPr lang="en-US" sz="1200" dirty="0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B53B823-1D13-2F69-7239-8B6234F947B9}"/>
              </a:ext>
            </a:extLst>
          </p:cNvPr>
          <p:cNvCxnSpPr>
            <a:cxnSpLocks/>
          </p:cNvCxnSpPr>
          <p:nvPr/>
        </p:nvCxnSpPr>
        <p:spPr>
          <a:xfrm flipH="1">
            <a:off x="2576946" y="3530038"/>
            <a:ext cx="386947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96C5561F-7B6D-3941-18A9-60489CCB7282}"/>
              </a:ext>
            </a:extLst>
          </p:cNvPr>
          <p:cNvSpPr txBox="1"/>
          <p:nvPr/>
        </p:nvSpPr>
        <p:spPr>
          <a:xfrm>
            <a:off x="3738470" y="3253039"/>
            <a:ext cx="18982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dirty="0">
                <a:solidFill>
                  <a:srgbClr val="FF0000"/>
                </a:solidFill>
              </a:rPr>
              <a:t>(7) Gửi fram Data + CRC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BBB4DDB-480E-A819-4354-349D164E68B6}"/>
              </a:ext>
            </a:extLst>
          </p:cNvPr>
          <p:cNvCxnSpPr>
            <a:cxnSpLocks/>
          </p:cNvCxnSpPr>
          <p:nvPr/>
        </p:nvCxnSpPr>
        <p:spPr>
          <a:xfrm>
            <a:off x="2544128" y="4138608"/>
            <a:ext cx="386947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8F7A8590-34BD-76C5-1B04-5EE2E983DE42}"/>
              </a:ext>
            </a:extLst>
          </p:cNvPr>
          <p:cNvSpPr txBox="1"/>
          <p:nvPr/>
        </p:nvSpPr>
        <p:spPr>
          <a:xfrm>
            <a:off x="3870901" y="3837558"/>
            <a:ext cx="15355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dirty="0">
                <a:solidFill>
                  <a:srgbClr val="FF0000"/>
                </a:solidFill>
              </a:rPr>
              <a:t>(8) Gửi ACK/ NACK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91D6957-138D-6AD0-4A80-DECC7B4BB384}"/>
              </a:ext>
            </a:extLst>
          </p:cNvPr>
          <p:cNvSpPr/>
          <p:nvPr/>
        </p:nvSpPr>
        <p:spPr>
          <a:xfrm>
            <a:off x="900136" y="3340171"/>
            <a:ext cx="1608734" cy="4297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dirty="0"/>
              <a:t>Check CRC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0C846D5-59F8-54D7-6D32-D381167C8A4F}"/>
              </a:ext>
            </a:extLst>
          </p:cNvPr>
          <p:cNvSpPr/>
          <p:nvPr/>
        </p:nvSpPr>
        <p:spPr>
          <a:xfrm>
            <a:off x="900136" y="3976057"/>
            <a:ext cx="1608734" cy="4297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dirty="0"/>
              <a:t>Ghi vào Bank B</a:t>
            </a:r>
          </a:p>
          <a:p>
            <a:pPr algn="ctr"/>
            <a:r>
              <a:rPr lang="vi-VN" sz="1200" dirty="0"/>
              <a:t>Hoặc gửi NACK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311C08F-3A4E-6CAE-234A-75A823FC3FB6}"/>
              </a:ext>
            </a:extLst>
          </p:cNvPr>
          <p:cNvSpPr/>
          <p:nvPr/>
        </p:nvSpPr>
        <p:spPr>
          <a:xfrm>
            <a:off x="173453" y="3253039"/>
            <a:ext cx="6411495" cy="127384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1DC8F9A-0F35-6B98-5975-3B5E3161EE6C}"/>
              </a:ext>
            </a:extLst>
          </p:cNvPr>
          <p:cNvSpPr txBox="1"/>
          <p:nvPr/>
        </p:nvSpPr>
        <p:spPr>
          <a:xfrm>
            <a:off x="193672" y="3699058"/>
            <a:ext cx="6126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dirty="0">
                <a:solidFill>
                  <a:srgbClr val="FF0000"/>
                </a:solidFill>
              </a:rPr>
              <a:t>LOOP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482C4D7-5288-92C8-279B-7BA4EA05D90C}"/>
              </a:ext>
            </a:extLst>
          </p:cNvPr>
          <p:cNvSpPr/>
          <p:nvPr/>
        </p:nvSpPr>
        <p:spPr>
          <a:xfrm>
            <a:off x="900136" y="4697300"/>
            <a:ext cx="1608734" cy="4297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dirty="0"/>
              <a:t>Kiểm tra FW CRC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C5E4B12E-850B-1B54-76A3-7F95C7768750}"/>
              </a:ext>
            </a:extLst>
          </p:cNvPr>
          <p:cNvCxnSpPr>
            <a:cxnSpLocks/>
          </p:cNvCxnSpPr>
          <p:nvPr/>
        </p:nvCxnSpPr>
        <p:spPr>
          <a:xfrm>
            <a:off x="2585942" y="4948194"/>
            <a:ext cx="386947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F7CB8E74-02DA-74A7-37D4-8267EED639A4}"/>
              </a:ext>
            </a:extLst>
          </p:cNvPr>
          <p:cNvSpPr txBox="1"/>
          <p:nvPr/>
        </p:nvSpPr>
        <p:spPr>
          <a:xfrm>
            <a:off x="3438138" y="4665380"/>
            <a:ext cx="24588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dirty="0">
                <a:solidFill>
                  <a:srgbClr val="FF0000"/>
                </a:solidFill>
              </a:rPr>
              <a:t>(9) Gửi Update OK / Update FAIL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27E5C113-60BA-4C08-A8B7-D85D6421F3D6}"/>
              </a:ext>
            </a:extLst>
          </p:cNvPr>
          <p:cNvCxnSpPr>
            <a:cxnSpLocks/>
          </p:cNvCxnSpPr>
          <p:nvPr/>
        </p:nvCxnSpPr>
        <p:spPr>
          <a:xfrm>
            <a:off x="6790014" y="4959153"/>
            <a:ext cx="386947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732CBF06-74D0-113C-5ADF-F99B115DBD3E}"/>
              </a:ext>
            </a:extLst>
          </p:cNvPr>
          <p:cNvSpPr txBox="1"/>
          <p:nvPr/>
        </p:nvSpPr>
        <p:spPr>
          <a:xfrm>
            <a:off x="8392153" y="4647347"/>
            <a:ext cx="10550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dirty="0">
                <a:solidFill>
                  <a:srgbClr val="FF0000"/>
                </a:solidFill>
              </a:rPr>
              <a:t>(10) Gửi Log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7A5D6BBA-3509-C22A-2038-3EDDC5709BE3}"/>
              </a:ext>
            </a:extLst>
          </p:cNvPr>
          <p:cNvSpPr/>
          <p:nvPr/>
        </p:nvSpPr>
        <p:spPr>
          <a:xfrm>
            <a:off x="900136" y="5448803"/>
            <a:ext cx="1608734" cy="4297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dirty="0"/>
              <a:t>Vào Application boot</a:t>
            </a:r>
          </a:p>
        </p:txBody>
      </p:sp>
      <p:cxnSp>
        <p:nvCxnSpPr>
          <p:cNvPr id="68" name="Connector: Elbow 67">
            <a:extLst>
              <a:ext uri="{FF2B5EF4-FFF2-40B4-BE49-F238E27FC236}">
                <a16:creationId xmlns:a16="http://schemas.microsoft.com/office/drawing/2014/main" id="{FB0EF582-7CEC-D3C6-7956-B83DF3A9F355}"/>
              </a:ext>
            </a:extLst>
          </p:cNvPr>
          <p:cNvCxnSpPr>
            <a:cxnSpLocks/>
            <a:endCxn id="60" idx="1"/>
          </p:cNvCxnSpPr>
          <p:nvPr/>
        </p:nvCxnSpPr>
        <p:spPr>
          <a:xfrm>
            <a:off x="259566" y="4564292"/>
            <a:ext cx="640570" cy="347886"/>
          </a:xfrm>
          <a:prstGeom prst="bentConnector3">
            <a:avLst>
              <a:gd name="adj1" fmla="val 63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5D109F2D-8DA2-5A07-DE66-1DBDFB6BE952}"/>
              </a:ext>
            </a:extLst>
          </p:cNvPr>
          <p:cNvSpPr txBox="1"/>
          <p:nvPr/>
        </p:nvSpPr>
        <p:spPr>
          <a:xfrm>
            <a:off x="7268" y="4896222"/>
            <a:ext cx="8549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200" dirty="0">
                <a:solidFill>
                  <a:srgbClr val="FF0000"/>
                </a:solidFill>
              </a:rPr>
              <a:t>success / timeout</a:t>
            </a:r>
            <a:endParaRPr 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06727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69DF547D-1649-B1D1-DBB1-9DB14E51037A}"/>
              </a:ext>
            </a:extLst>
          </p:cNvPr>
          <p:cNvGrpSpPr/>
          <p:nvPr/>
        </p:nvGrpSpPr>
        <p:grpSpPr>
          <a:xfrm>
            <a:off x="9879370" y="179292"/>
            <a:ext cx="2136449" cy="3179036"/>
            <a:chOff x="6166351" y="388664"/>
            <a:chExt cx="2136449" cy="317903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51E3912-3832-F326-F8BF-8C62284A3811}"/>
                </a:ext>
              </a:extLst>
            </p:cNvPr>
            <p:cNvSpPr/>
            <p:nvPr/>
          </p:nvSpPr>
          <p:spPr>
            <a:xfrm>
              <a:off x="6166351" y="388664"/>
              <a:ext cx="2136449" cy="3179036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30884D7-DFBF-7B3E-D7EA-670505E9B8E5}"/>
                </a:ext>
              </a:extLst>
            </p:cNvPr>
            <p:cNvSpPr/>
            <p:nvPr/>
          </p:nvSpPr>
          <p:spPr>
            <a:xfrm>
              <a:off x="6166351" y="3148956"/>
              <a:ext cx="2136449" cy="418744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Bootloader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39B421B-B4FC-045A-88C7-7803EF749E8B}"/>
                </a:ext>
              </a:extLst>
            </p:cNvPr>
            <p:cNvSpPr/>
            <p:nvPr/>
          </p:nvSpPr>
          <p:spPr>
            <a:xfrm>
              <a:off x="6166351" y="2328559"/>
              <a:ext cx="2136449" cy="82039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Main Application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1AD632F-F7F9-1786-C3BE-E4C42DB6B1C9}"/>
                </a:ext>
              </a:extLst>
            </p:cNvPr>
            <p:cNvSpPr/>
            <p:nvPr/>
          </p:nvSpPr>
          <p:spPr>
            <a:xfrm>
              <a:off x="6166351" y="1508162"/>
              <a:ext cx="2136449" cy="820397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FOTA firmware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FD41D0C-5604-70BE-7F6B-8A99A9B655DC}"/>
                </a:ext>
              </a:extLst>
            </p:cNvPr>
            <p:cNvSpPr/>
            <p:nvPr/>
          </p:nvSpPr>
          <p:spPr>
            <a:xfrm>
              <a:off x="6166351" y="687765"/>
              <a:ext cx="2136449" cy="820397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Recovery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70128A0-A157-FE01-F5B4-E8F7DF64885F}"/>
                </a:ext>
              </a:extLst>
            </p:cNvPr>
            <p:cNvSpPr/>
            <p:nvPr/>
          </p:nvSpPr>
          <p:spPr>
            <a:xfrm>
              <a:off x="6166351" y="388664"/>
              <a:ext cx="2136449" cy="290555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Flag</a:t>
              </a:r>
            </a:p>
          </p:txBody>
        </p:sp>
      </p:grp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A109318-9667-A083-F3B2-BE07955C9E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9277564"/>
              </p:ext>
            </p:extLst>
          </p:nvPr>
        </p:nvGraphicFramePr>
        <p:xfrm>
          <a:off x="822037" y="127448"/>
          <a:ext cx="5523346" cy="3230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28449">
                  <a:extLst>
                    <a:ext uri="{9D8B030D-6E8A-4147-A177-3AD203B41FA5}">
                      <a16:colId xmlns:a16="http://schemas.microsoft.com/office/drawing/2014/main" val="2112043650"/>
                    </a:ext>
                  </a:extLst>
                </a:gridCol>
                <a:gridCol w="1394897">
                  <a:extLst>
                    <a:ext uri="{9D8B030D-6E8A-4147-A177-3AD203B41FA5}">
                      <a16:colId xmlns:a16="http://schemas.microsoft.com/office/drawing/2014/main" val="182278994"/>
                    </a:ext>
                  </a:extLst>
                </a:gridCol>
              </a:tblGrid>
              <a:tr h="24662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Define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2992430"/>
                  </a:ext>
                </a:extLst>
              </a:tr>
              <a:tr h="246621">
                <a:tc>
                  <a:txBody>
                    <a:bodyPr/>
                    <a:lstStyle/>
                    <a:p>
                      <a:r>
                        <a:rPr lang="en-US" dirty="0"/>
                        <a:t>FOTA_INIT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3653224"/>
                  </a:ext>
                </a:extLst>
              </a:tr>
              <a:tr h="246621">
                <a:tc>
                  <a:txBody>
                    <a:bodyPr/>
                    <a:lstStyle/>
                    <a:p>
                      <a:r>
                        <a:rPr lang="en-US" dirty="0"/>
                        <a:t>FOTA_FOTA_WRITE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0X01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3143926"/>
                  </a:ext>
                </a:extLst>
              </a:tr>
              <a:tr h="246621">
                <a:tc>
                  <a:txBody>
                    <a:bodyPr/>
                    <a:lstStyle/>
                    <a:p>
                      <a:r>
                        <a:rPr lang="en-US" dirty="0"/>
                        <a:t>FOTA_RECOVERY_WRITE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0X02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4382750"/>
                  </a:ext>
                </a:extLst>
              </a:tr>
              <a:tr h="246621">
                <a:tc>
                  <a:txBody>
                    <a:bodyPr/>
                    <a:lstStyle/>
                    <a:p>
                      <a:r>
                        <a:rPr lang="en-US" dirty="0"/>
                        <a:t>FOTA_APPLICATION_ERASE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0X03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1563956"/>
                  </a:ext>
                </a:extLst>
              </a:tr>
              <a:tr h="246621">
                <a:tc>
                  <a:txBody>
                    <a:bodyPr/>
                    <a:lstStyle/>
                    <a:p>
                      <a:r>
                        <a:rPr lang="en-US" dirty="0"/>
                        <a:t>FOTA_APPLICATION_WRITE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0X04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109130"/>
                  </a:ext>
                </a:extLst>
              </a:tr>
              <a:tr h="246621">
                <a:tc>
                  <a:txBody>
                    <a:bodyPr/>
                    <a:lstStyle/>
                    <a:p>
                      <a:r>
                        <a:rPr lang="en-US" dirty="0"/>
                        <a:t>FOTA_APPLICATION_ROLLBACK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0X05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9122222"/>
                  </a:ext>
                </a:extLst>
              </a:tr>
              <a:tr h="226069">
                <a:tc>
                  <a:txBody>
                    <a:bodyPr/>
                    <a:lstStyle/>
                    <a:p>
                      <a:r>
                        <a:rPr lang="vi-VN" sz="1600" dirty="0"/>
                        <a:t>FOTA_SUCCESS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sz="1600" dirty="0"/>
                        <a:t>0X0</a:t>
                      </a:r>
                      <a:r>
                        <a:rPr lang="en-US" sz="1600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5255206"/>
                  </a:ext>
                </a:extLst>
              </a:tr>
              <a:tr h="226069">
                <a:tc>
                  <a:txBody>
                    <a:bodyPr/>
                    <a:lstStyle/>
                    <a:p>
                      <a:r>
                        <a:rPr lang="vi-VN" sz="1600" dirty="0"/>
                        <a:t>FOTA_FAIL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sz="1600" dirty="0"/>
                        <a:t>0X0</a:t>
                      </a:r>
                      <a:r>
                        <a:rPr lang="en-US" sz="1600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2981047"/>
                  </a:ext>
                </a:extLst>
              </a:tr>
            </a:tbl>
          </a:graphicData>
        </a:graphic>
      </p:graphicFrame>
      <p:pic>
        <p:nvPicPr>
          <p:cNvPr id="12" name="Picture 11" descr="A diagram with text and words&#10;&#10;AI-generated content may be incorrect.">
            <a:extLst>
              <a:ext uri="{FF2B5EF4-FFF2-40B4-BE49-F238E27FC236}">
                <a16:creationId xmlns:a16="http://schemas.microsoft.com/office/drawing/2014/main" id="{7D2326E1-FEFC-080A-DE70-3238FCFA53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037" y="3410172"/>
            <a:ext cx="8616742" cy="3249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0993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</TotalTime>
  <Words>197</Words>
  <Application>Microsoft Office PowerPoint</Application>
  <PresentationFormat>Widescreen</PresentationFormat>
  <Paragraphs>57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Hoang Huy Anh Tuan/LGEDV VHA TEAM</dc:creator>
  <cp:lastModifiedBy>Hoang Huy Anh Tuan/LGEDV VHA TEAM</cp:lastModifiedBy>
  <cp:revision>9</cp:revision>
  <dcterms:created xsi:type="dcterms:W3CDTF">2025-12-10T06:43:16Z</dcterms:created>
  <dcterms:modified xsi:type="dcterms:W3CDTF">2025-12-10T10:08:10Z</dcterms:modified>
</cp:coreProperties>
</file>